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4BCF95-DD65-465C-B9AE-2417C28DE32D}">
  <a:tblStyle styleId="{834BCF95-DD65-465C-B9AE-2417C28DE3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ccb88df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ccb88df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ccb88dfd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ccb88dfd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ccb88df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ccb88df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cb88df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cb88df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cb88dfd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ccb88dfd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cb88df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ccb88df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How to Describe it Professionally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are explaining this slide to an audience, here are two ways to phrase it depending on what the heatmap represents: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If it represents Feature Correlation: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scale from 0 to 1 represents the </a:t>
            </a:r>
            <a:r>
              <a:rPr b="1" lang="en">
                <a:solidFill>
                  <a:schemeClr val="dk1"/>
                </a:solidFill>
              </a:rPr>
              <a:t>Pearson Correlation Coefficient</a:t>
            </a:r>
            <a:r>
              <a:rPr lang="en">
                <a:solidFill>
                  <a:schemeClr val="dk1"/>
                </a:solidFill>
              </a:rPr>
              <a:t>. A value of 1 indicates that two WiFi features are perfectly correlated. We used this to identify and eliminate redundant data, allowing us to focus on the 13 most pivotal behavioral features."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If it represents Normalized Data (Intensity):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 0 to 1 scale represents the </a:t>
            </a:r>
            <a:r>
              <a:rPr b="1" lang="en">
                <a:solidFill>
                  <a:schemeClr val="dk1"/>
                </a:solidFill>
              </a:rPr>
              <a:t>Standardized Feature Range</a:t>
            </a:r>
            <a:r>
              <a:rPr lang="en">
                <a:solidFill>
                  <a:schemeClr val="dk1"/>
                </a:solidFill>
              </a:rPr>
              <a:t>. Since we applied a </a:t>
            </a:r>
            <a:r>
              <a:rPr lang="en">
                <a:solidFill>
                  <a:srgbClr val="188038"/>
                </a:solidFill>
              </a:rPr>
              <a:t>StandardScaler</a:t>
            </a:r>
            <a:r>
              <a:rPr lang="en">
                <a:solidFill>
                  <a:schemeClr val="dk1"/>
                </a:solidFill>
              </a:rPr>
              <a:t>, all raw WiFi packet values—like frame length or sequence numbers—were normalized to this range so the model treats every feature with equal importance during training."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2ad375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2ad375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2ad3752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d2ad3752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34e7f57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d34e7f57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Unit Neutrality (The "Apples to Oranges" Problem)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Your dataset contains features with completely different scales: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frame_len</a:t>
            </a:r>
            <a:r>
              <a:rPr lang="en">
                <a:solidFill>
                  <a:schemeClr val="dk1"/>
                </a:solidFill>
              </a:rPr>
              <a:t>: Can be </a:t>
            </a:r>
            <a:r>
              <a:rPr b="1" lang="en">
                <a:solidFill>
                  <a:schemeClr val="dk1"/>
                </a:solidFill>
              </a:rPr>
              <a:t>1,500+</a:t>
            </a:r>
            <a:r>
              <a:rPr lang="en">
                <a:solidFill>
                  <a:schemeClr val="dk1"/>
                </a:solidFill>
              </a:rPr>
              <a:t> (Bytes).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qos_priority</a:t>
            </a:r>
            <a:r>
              <a:rPr lang="en">
                <a:solidFill>
                  <a:schemeClr val="dk1"/>
                </a:solidFill>
              </a:rPr>
              <a:t>: Only goes from </a:t>
            </a:r>
            <a:r>
              <a:rPr b="1" lang="en">
                <a:solidFill>
                  <a:schemeClr val="dk1"/>
                </a:solidFill>
              </a:rPr>
              <a:t>0 to 7</a:t>
            </a:r>
            <a:r>
              <a:rPr lang="en">
                <a:solidFill>
                  <a:schemeClr val="dk1"/>
                </a:solidFill>
              </a:rPr>
              <a:t> (Categories).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don't use Z-values, the XGBoost algorithm might assume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frame_len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200 times more important</a:t>
            </a:r>
            <a:r>
              <a:rPr lang="en">
                <a:solidFill>
                  <a:schemeClr val="dk1"/>
                </a:solidFill>
              </a:rPr>
              <a:t> simply because the numbers are larger. The Z-value strips away the units and turns everything into "Standard Deviations," making the comparison fair.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Accelerating Gradient Convergence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XGBoost is a gradient-based optimization algorithm. It searches for the "minimum error" in a multi-dimensional landscape.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Unscaled Data:</a:t>
            </a:r>
            <a:r>
              <a:rPr lang="en">
                <a:solidFill>
                  <a:schemeClr val="dk1"/>
                </a:solidFill>
              </a:rPr>
              <a:t> The landscape is stretched and distorted (like a long, skinny valley), making it hard for the model to find the bottom.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Z-Scaled Data:</a:t>
            </a:r>
            <a:r>
              <a:rPr lang="en">
                <a:solidFill>
                  <a:schemeClr val="dk1"/>
                </a:solidFill>
              </a:rPr>
              <a:t> The landscape becomes a perfect "bowl." This allows the model to find the most accurate solution much faster and with fewer errors.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d34e7f5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d34e7f5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34e7f5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34e7f5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d34e7f5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d34e7f5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d4da69b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d4da69b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34e7f57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d34e7f57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d4da69b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d4da69b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34e7f57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d34e7f57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34e7f57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d34e7f57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d34e7f5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d34e7f5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32775"/>
            <a:ext cx="8520600" cy="17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85"/>
              <a:t>Intrusion Detection System for Wireless Sensor</a:t>
            </a:r>
            <a:endParaRPr sz="2585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85"/>
              <a:t>Networks: A Machine Learning</a:t>
            </a:r>
            <a:endParaRPr sz="2585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5"/>
              <a:t>Based Approach</a:t>
            </a:r>
            <a:endParaRPr sz="5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42775"/>
            <a:ext cx="85206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chemeClr val="dk1"/>
                </a:solidFill>
              </a:rPr>
              <a:t>BY:</a:t>
            </a:r>
            <a:endParaRPr sz="2550">
              <a:solidFill>
                <a:schemeClr val="dk1"/>
              </a:solidFill>
            </a:endParaRPr>
          </a:p>
          <a:p>
            <a:pPr indent="457200" lvl="0" marL="3657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chemeClr val="dk1"/>
                </a:solidFill>
              </a:rPr>
              <a:t>HARI KHISSAN B(22L219)</a:t>
            </a:r>
            <a:endParaRPr sz="2550">
              <a:solidFill>
                <a:schemeClr val="dk1"/>
              </a:solidFill>
            </a:endParaRPr>
          </a:p>
          <a:p>
            <a:pPr indent="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chemeClr val="dk1"/>
                </a:solidFill>
              </a:rPr>
              <a:t>  RAGHAVAN S U(22L255)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6700" y="304650"/>
            <a:ext cx="855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dk1"/>
                </a:solidFill>
              </a:rPr>
              <a:t>19L015 - WIRELESS SENSOR NETWORKS</a:t>
            </a:r>
            <a:endParaRPr sz="25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		ASSIGMENT PRESENTATION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• Wireless Sensor Networks (WSNs) are widely used in critical applications such as healthcare monitoring, smart cities, and IoT systems.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• These networks are highly vulnerable to cyber-attacks including flooding, impersonation, and injection attacks.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• Traditional security mechanisms fail due to high-dimensional data and class imbalance.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• Intrusion Detection Systems (IDS) are required to efficiently detect malicious traffic in real-time.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FOR THE WORK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There is a growing need to secure wireless sensor networks because cyber-attacks are increasing.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Existing systemms have problems like: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Low accuracy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High false alarms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Poor handling of large data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Our goal is to build a syste that is more accurate, efficient, and scalable for real-time use.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87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001600"/>
            <a:ext cx="85206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The core challenge in securing these networks is the need for </a:t>
            </a:r>
            <a:r>
              <a:rPr b="1" lang="en" sz="1300">
                <a:solidFill>
                  <a:schemeClr val="dk1"/>
                </a:solidFill>
              </a:rPr>
              <a:t>real-time, high-accuracy detection</a:t>
            </a:r>
            <a:r>
              <a:rPr lang="en" sz="1300">
                <a:solidFill>
                  <a:schemeClr val="dk1"/>
                </a:solidFill>
              </a:rPr>
              <a:t> within fast-paced, resource-constrained environments. Current Intrusion Detection Systems (IDS) often struggle with the following technical bottlenecks: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Data Complexity and Redundancy</a:t>
            </a:r>
            <a:r>
              <a:rPr lang="en" sz="1300">
                <a:solidFill>
                  <a:schemeClr val="dk1"/>
                </a:solidFill>
              </a:rPr>
              <a:t>: WSNs generate large volumes of high-dimensional data containing redundant features that do not contribute to effective classification.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Computational Inefficiency</a:t>
            </a:r>
            <a:r>
              <a:rPr lang="en" sz="1300">
                <a:solidFill>
                  <a:schemeClr val="dk1"/>
                </a:solidFill>
              </a:rPr>
              <a:t>: Processing these massive datasets results in time-consuming training phases, which is impractical for immediate intervention in IoT settings.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Operational Reliability</a:t>
            </a:r>
            <a:r>
              <a:rPr lang="en" sz="1300">
                <a:solidFill>
                  <a:schemeClr val="dk1"/>
                </a:solidFill>
              </a:rPr>
              <a:t>: Existing models frequently fail to balance a high detection rate with a low false alarm rate, leading to either missed threats or unnecessary disruptions to legitimate network operations.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Consequently, there is a critical need for an optimized framework that utilizes advanced feature engineering and efficient machine learning architectures to provide robust, plug-and-play security for the evolving IoT landscape.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Threat Protection</a:t>
            </a:r>
            <a:r>
              <a:rPr lang="en" sz="1300">
                <a:solidFill>
                  <a:schemeClr val="dk1"/>
                </a:solidFill>
              </a:rPr>
              <a:t>: To develop a sophisticated Network Intrusion Detection System (NIDS) specifically designed to safeguard Wi-Fi-based Wireless Sensor Networks (WSNs) from impersonation, flooding, and injection attacks.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Technical Optimization</a:t>
            </a:r>
            <a:r>
              <a:rPr lang="en" sz="1300">
                <a:solidFill>
                  <a:schemeClr val="dk1"/>
                </a:solidFill>
              </a:rPr>
              <a:t>: To implement a meticulous feature selection process that reduces the initial 154 features down to 13 pivotal indicators, ensuring efficient and focused data analysis.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Performance Enhancement</a:t>
            </a:r>
            <a:r>
              <a:rPr lang="en" sz="1300">
                <a:solidFill>
                  <a:schemeClr val="dk1"/>
                </a:solidFill>
              </a:rPr>
              <a:t>: To achieve high detection accuracy while simultaneously reducing loss values and minimizing the False Alarm Rate (FAR).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Model Evaluation</a:t>
            </a:r>
            <a:r>
              <a:rPr lang="en" sz="1300">
                <a:solidFill>
                  <a:schemeClr val="dk1"/>
                </a:solidFill>
              </a:rPr>
              <a:t>: To propose and train a XGBoost with SMOTE for optimal multiclass classification and check its efficiency.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932850"/>
            <a:ext cx="8520600" cy="40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1. Data Pre-processing &amp; Engineering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Feature Selection:</a:t>
            </a:r>
            <a:r>
              <a:rPr lang="en" sz="1200">
                <a:solidFill>
                  <a:schemeClr val="dk1"/>
                </a:solidFill>
              </a:rPr>
              <a:t> Reduced 154 raw WiFi characteristics to </a:t>
            </a:r>
            <a:r>
              <a:rPr b="1" lang="en" sz="1200">
                <a:solidFill>
                  <a:schemeClr val="dk1"/>
                </a:solidFill>
              </a:rPr>
              <a:t>13 core behavioral features</a:t>
            </a:r>
            <a:r>
              <a:rPr lang="en" sz="1200">
                <a:solidFill>
                  <a:schemeClr val="dk1"/>
                </a:solidFill>
              </a:rPr>
              <a:t> to optimize for real-time edge performance.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Cleaning &amp; Normalization:</a:t>
            </a:r>
            <a:r>
              <a:rPr lang="en" sz="1200">
                <a:solidFill>
                  <a:schemeClr val="dk1"/>
                </a:solidFill>
              </a:rPr>
              <a:t> Standardized 1.7M training samples using </a:t>
            </a:r>
            <a:r>
              <a:rPr b="1" lang="en" sz="1200">
                <a:solidFill>
                  <a:schemeClr val="dk1"/>
                </a:solidFill>
              </a:rPr>
              <a:t>StandardScaler</a:t>
            </a:r>
            <a:r>
              <a:rPr lang="en" sz="1200">
                <a:solidFill>
                  <a:schemeClr val="dk1"/>
                </a:solidFill>
              </a:rPr>
              <a:t> (Mean=0, Std=1) to ensure uniform feature importance.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Class Balancing (SMOTE):</a:t>
            </a:r>
            <a:r>
              <a:rPr lang="en" sz="1200">
                <a:solidFill>
                  <a:schemeClr val="dk1"/>
                </a:solidFill>
              </a:rPr>
              <a:t> Addressed the data imbalance by generating synthetic minority samples, preventing "majority-class bias".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2. Training Architecture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Model Selection:</a:t>
            </a:r>
            <a:r>
              <a:rPr lang="en" sz="1200">
                <a:solidFill>
                  <a:schemeClr val="dk1"/>
                </a:solidFill>
              </a:rPr>
              <a:t> Utilized </a:t>
            </a:r>
            <a:r>
              <a:rPr b="1" lang="en" sz="1200">
                <a:solidFill>
                  <a:schemeClr val="dk1"/>
                </a:solidFill>
              </a:rPr>
              <a:t>XGBoost (Extreme Gradient Boosting)</a:t>
            </a:r>
            <a:r>
              <a:rPr lang="en" sz="1200">
                <a:solidFill>
                  <a:schemeClr val="dk1"/>
                </a:solidFill>
              </a:rPr>
              <a:t> for its superior handling of tabular data compared to traditional Deep Learning.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Configuration:</a:t>
            </a:r>
            <a:r>
              <a:rPr lang="en" sz="1200">
                <a:solidFill>
                  <a:schemeClr val="dk1"/>
                </a:solidFill>
              </a:rPr>
              <a:t> 150 decision trees with a maximum depth of 10 to balance high accuracy with model generalization.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Execution:</a:t>
            </a:r>
            <a:r>
              <a:rPr lang="en" sz="1200">
                <a:solidFill>
                  <a:schemeClr val="dk1"/>
                </a:solidFill>
              </a:rPr>
              <a:t> Leveraged GPU-accelerated histogram construction for rapid training and millisecond-level inference.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3. Validation Framework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Dataset Split:</a:t>
            </a:r>
            <a:r>
              <a:rPr lang="en" sz="1200">
                <a:solidFill>
                  <a:schemeClr val="dk1"/>
                </a:solidFill>
              </a:rPr>
              <a:t> 80/20 Stratified Split (1.43M training / 359K testing) to preserve real-world attack distributions.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Success Metrics:</a:t>
            </a:r>
            <a:r>
              <a:rPr lang="en" sz="1200">
                <a:solidFill>
                  <a:schemeClr val="dk1"/>
                </a:solidFill>
              </a:rPr>
              <a:t> Prioritized </a:t>
            </a:r>
            <a:r>
              <a:rPr b="1" lang="en" sz="1200">
                <a:solidFill>
                  <a:schemeClr val="dk1"/>
                </a:solidFill>
              </a:rPr>
              <a:t>Attack Recall</a:t>
            </a:r>
            <a:r>
              <a:rPr lang="en" sz="1200">
                <a:solidFill>
                  <a:schemeClr val="dk1"/>
                </a:solidFill>
              </a:rPr>
              <a:t> and F1-Score to ensure a "Zero Missed Threat" security posture.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6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840975"/>
            <a:ext cx="37437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225">
                <a:solidFill>
                  <a:schemeClr val="dk1"/>
                </a:solidFill>
              </a:rPr>
              <a:t>• To utilize the AWID (Aegean Wi-Fi Intrusion Detection) dataset for training and testing the IDS model.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225">
                <a:solidFill>
                  <a:schemeClr val="dk1"/>
                </a:solidFill>
              </a:rPr>
              <a:t>• To work with real-world Wi-Fi network traffic data consisting of large-scale samples. T</a:t>
            </a:r>
            <a:r>
              <a:rPr lang="en" sz="1225">
                <a:solidFill>
                  <a:schemeClr val="dk1"/>
                </a:solidFill>
              </a:rPr>
              <a:t>otal Samples: </a:t>
            </a:r>
            <a:r>
              <a:rPr b="1" lang="en" sz="1225">
                <a:solidFill>
                  <a:schemeClr val="dk1"/>
                </a:solidFill>
              </a:rPr>
              <a:t>1.7 million</a:t>
            </a:r>
            <a:r>
              <a:rPr lang="en" sz="1225">
                <a:solidFill>
                  <a:schemeClr val="dk1"/>
                </a:solidFill>
              </a:rPr>
              <a:t> WiFi packets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225">
                <a:solidFill>
                  <a:schemeClr val="dk1"/>
                </a:solidFill>
              </a:rPr>
              <a:t>• To consider </a:t>
            </a:r>
            <a:r>
              <a:rPr b="1" lang="en" sz="1225">
                <a:solidFill>
                  <a:schemeClr val="dk1"/>
                </a:solidFill>
              </a:rPr>
              <a:t>154 original features</a:t>
            </a:r>
            <a:r>
              <a:rPr lang="en" sz="1225">
                <a:solidFill>
                  <a:schemeClr val="dk1"/>
                </a:solidFill>
              </a:rPr>
              <a:t> and reduce them to optimized feature sets.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225">
                <a:solidFill>
                  <a:schemeClr val="dk1"/>
                </a:solidFill>
              </a:rPr>
              <a:t>• To classify data into four categories: normal, flooding, injection, and impersonation.AWID Dataset (Aegean WiFi Intrusion Detection)</a:t>
            </a:r>
            <a:endParaRPr sz="1225">
              <a:solidFill>
                <a:schemeClr val="dk1"/>
              </a:solidFill>
            </a:endParaRPr>
          </a:p>
          <a:p>
            <a:pPr indent="-30638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25"/>
              <a:buChar char="-"/>
            </a:pPr>
            <a:r>
              <a:rPr lang="en" sz="1225">
                <a:solidFill>
                  <a:schemeClr val="dk1"/>
                </a:solidFill>
              </a:rPr>
              <a:t>Normal (86%), Flooding (2.7%), Injection (3.6%), Impersonation (2.7%)</a:t>
            </a:r>
            <a:endParaRPr sz="1225">
              <a:solidFill>
                <a:schemeClr val="dk1"/>
              </a:solidFill>
            </a:endParaRPr>
          </a:p>
          <a:p>
            <a:pPr indent="-3063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Char char="-"/>
            </a:pPr>
            <a:r>
              <a:rPr lang="en" sz="1225">
                <a:solidFill>
                  <a:schemeClr val="dk1"/>
                </a:solidFill>
              </a:rPr>
              <a:t>Test Set: 359,115 samples</a:t>
            </a:r>
            <a:endParaRPr sz="12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25">
              <a:solidFill>
                <a:schemeClr val="dk1"/>
              </a:solidFill>
            </a:endParaRPr>
          </a:p>
        </p:txBody>
      </p:sp>
      <p:pic>
        <p:nvPicPr>
          <p:cNvPr id="93" name="Google Shape;93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600" y="519200"/>
            <a:ext cx="5197400" cy="454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6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4693800" y="1161025"/>
            <a:ext cx="45366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Behavioural 13 Features: 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├─ </a:t>
            </a:r>
            <a:r>
              <a:rPr b="1" lang="en">
                <a:solidFill>
                  <a:schemeClr val="dk1"/>
                </a:solidFill>
              </a:rPr>
              <a:t>Frame Structure:</a:t>
            </a:r>
            <a:r>
              <a:rPr lang="en">
                <a:solidFill>
                  <a:schemeClr val="dk1"/>
                </a:solidFill>
              </a:rPr>
              <a:t> frame_len, rt_len, rt_tsft, rt_flags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├─ </a:t>
            </a:r>
            <a:r>
              <a:rPr b="1" lang="en">
                <a:solidFill>
                  <a:schemeClr val="dk1"/>
                </a:solidFill>
              </a:rPr>
              <a:t>WiFi Control: </a:t>
            </a:r>
            <a:r>
              <a:rPr lang="en">
                <a:solidFill>
                  <a:schemeClr val="dk1"/>
                </a:solidFill>
              </a:rPr>
              <a:t>fc_type, fc_subtype, fc_retry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├─ </a:t>
            </a:r>
            <a:r>
              <a:rPr b="1" lang="en">
                <a:solidFill>
                  <a:schemeClr val="dk1"/>
                </a:solidFill>
              </a:rPr>
              <a:t>Sequence Dat</a:t>
            </a:r>
            <a:r>
              <a:rPr b="1" lang="en">
                <a:solidFill>
                  <a:schemeClr val="dk1"/>
                </a:solidFill>
              </a:rPr>
              <a:t>a: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wlan_seq, data_len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├─ </a:t>
            </a:r>
            <a:r>
              <a:rPr b="1" lang="en">
                <a:solidFill>
                  <a:schemeClr val="dk1"/>
                </a:solidFill>
              </a:rPr>
              <a:t>Management: </a:t>
            </a:r>
            <a:r>
              <a:rPr lang="en">
                <a:solidFill>
                  <a:schemeClr val="dk1"/>
                </a:solidFill>
              </a:rPr>
              <a:t>mgt_privacy, mgt_beacon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└─ </a:t>
            </a:r>
            <a:r>
              <a:rPr b="1" lang="en">
                <a:solidFill>
                  <a:schemeClr val="dk1"/>
                </a:solidFill>
              </a:rPr>
              <a:t>Quality of Service: </a:t>
            </a:r>
            <a:r>
              <a:rPr lang="en">
                <a:solidFill>
                  <a:schemeClr val="dk1"/>
                </a:solidFill>
              </a:rPr>
              <a:t>qos_tid, qos_priority</a:t>
            </a:r>
            <a:endParaRPr/>
          </a:p>
        </p:txBody>
      </p:sp>
      <p:grpSp>
        <p:nvGrpSpPr>
          <p:cNvPr id="100" name="Google Shape;100;p20"/>
          <p:cNvGrpSpPr/>
          <p:nvPr/>
        </p:nvGrpSpPr>
        <p:grpSpPr>
          <a:xfrm>
            <a:off x="3522990" y="2618127"/>
            <a:ext cx="1610713" cy="1205346"/>
            <a:chOff x="6038025" y="2598925"/>
            <a:chExt cx="2469661" cy="1384500"/>
          </a:xfrm>
        </p:grpSpPr>
        <p:cxnSp>
          <p:nvCxnSpPr>
            <p:cNvPr id="101" name="Google Shape;101;p20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" name="Google Shape;102;p20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783"/>
                </a:spcBef>
                <a:spcAft>
                  <a:spcPts val="0"/>
                </a:spcAft>
                <a:buNone/>
              </a:pPr>
              <a:r>
                <a:t/>
              </a:r>
              <a:endParaRPr b="1" sz="913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83"/>
                </a:spcBef>
                <a:spcAft>
                  <a:spcPts val="0"/>
                </a:spcAft>
                <a:buNone/>
              </a:pPr>
              <a:r>
                <a:rPr b="1" lang="en" sz="913">
                  <a:solidFill>
                    <a:schemeClr val="dk1"/>
                  </a:solidFill>
                </a:rPr>
                <a:t>154 original features </a:t>
              </a:r>
              <a:endParaRPr b="1" sz="783"/>
            </a:p>
            <a:p>
              <a:pPr indent="0" lvl="0" marL="0" rtl="0" algn="l">
                <a:spcBef>
                  <a:spcPts val="783"/>
                </a:spcBef>
                <a:spcAft>
                  <a:spcPts val="1044"/>
                </a:spcAft>
                <a:buNone/>
              </a:pPr>
              <a:r>
                <a:t/>
              </a:r>
              <a:endParaRPr b="1" sz="522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20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0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44"/>
                </a:spcAft>
                <a:buNone/>
              </a:pPr>
              <a:r>
                <a:rPr lang="en" sz="52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5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5" name="Google Shape;105;p20"/>
          <p:cNvGrpSpPr/>
          <p:nvPr/>
        </p:nvGrpSpPr>
        <p:grpSpPr>
          <a:xfrm>
            <a:off x="-2" y="1945605"/>
            <a:ext cx="1953162" cy="1205346"/>
            <a:chOff x="636321" y="1844098"/>
            <a:chExt cx="2994729" cy="1384500"/>
          </a:xfrm>
        </p:grpSpPr>
        <p:sp>
          <p:nvSpPr>
            <p:cNvPr id="106" name="Google Shape;106;p20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783"/>
                </a:spcBef>
                <a:spcAft>
                  <a:spcPts val="783"/>
                </a:spcAft>
                <a:buNone/>
              </a:pPr>
              <a:r>
                <a:rPr b="1" lang="en" sz="913">
                  <a:solidFill>
                    <a:schemeClr val="dk1"/>
                  </a:solidFill>
                </a:rPr>
                <a:t>76 selected features</a:t>
              </a:r>
              <a:endParaRPr b="1" sz="522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7" name="Google Shape;107;p20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" name="Google Shape;108;p20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0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44"/>
                </a:spcAft>
                <a:buNone/>
              </a:pPr>
              <a:r>
                <a:rPr lang="en" sz="52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5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20"/>
          <p:cNvGrpSpPr/>
          <p:nvPr/>
        </p:nvGrpSpPr>
        <p:grpSpPr>
          <a:xfrm>
            <a:off x="2786053" y="1161032"/>
            <a:ext cx="2347650" cy="1205346"/>
            <a:chOff x="4908100" y="889950"/>
            <a:chExt cx="3599586" cy="1384500"/>
          </a:xfrm>
        </p:grpSpPr>
        <p:cxnSp>
          <p:nvCxnSpPr>
            <p:cNvPr id="111" name="Google Shape;111;p20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" name="Google Shape;112;p20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783"/>
                </a:spcBef>
                <a:spcAft>
                  <a:spcPts val="783"/>
                </a:spcAft>
                <a:buNone/>
              </a:pPr>
              <a:r>
                <a:rPr b="1" lang="en" sz="913">
                  <a:solidFill>
                    <a:schemeClr val="dk1"/>
                  </a:solidFill>
                </a:rPr>
                <a:t>13 behavioral features</a:t>
              </a:r>
              <a:endParaRPr b="1" sz="522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59625" lIns="59625" spcFirstLastPara="1" rIns="59625" wrap="square" tIns="5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0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625" lIns="59625" spcFirstLastPara="1" rIns="59625" wrap="square" tIns="5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44"/>
                </a:spcAft>
                <a:buNone/>
              </a:pPr>
              <a:r>
                <a:rPr lang="en" sz="52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5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20"/>
          <p:cNvGrpSpPr/>
          <p:nvPr/>
        </p:nvGrpSpPr>
        <p:grpSpPr>
          <a:xfrm>
            <a:off x="1420664" y="1342298"/>
            <a:ext cx="2292360" cy="2831194"/>
            <a:chOff x="2991269" y="1153325"/>
            <a:chExt cx="3514811" cy="3252003"/>
          </a:xfrm>
        </p:grpSpPr>
        <p:sp>
          <p:nvSpPr>
            <p:cNvPr id="116" name="Google Shape;116;p20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17" name="Google Shape;117;p20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18" name="Google Shape;118;p20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9325A5"/>
            </a:solidFill>
            <a:ln>
              <a:noFill/>
            </a:ln>
          </p:spPr>
        </p:sp>
        <p:sp>
          <p:nvSpPr>
            <p:cNvPr id="119" name="Google Shape;119;p20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0" name="Google Shape;120;p20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21" name="Google Shape;121;p20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71E86"/>
            </a:solidFill>
            <a:ln>
              <a:noFill/>
            </a:ln>
          </p:spPr>
        </p:sp>
        <p:sp>
          <p:nvSpPr>
            <p:cNvPr id="122" name="Google Shape;122;p20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23" name="Google Shape;123;p20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233275" y="17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DONE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130475" y="932850"/>
            <a:ext cx="4427400" cy="40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1. High Feature Selection:</a:t>
            </a:r>
            <a:r>
              <a:rPr lang="en" sz="1100">
                <a:solidFill>
                  <a:schemeClr val="dk1"/>
                </a:solidFill>
              </a:rPr>
              <a:t> Extracted 13 critical behavioral indicators (e.g., </a:t>
            </a:r>
            <a:r>
              <a:rPr i="1" lang="en" sz="1100">
                <a:solidFill>
                  <a:schemeClr val="dk1"/>
                </a:solidFill>
              </a:rPr>
              <a:t>frame_len, wlan_seq, qos_priority</a:t>
            </a:r>
            <a:r>
              <a:rPr lang="en" sz="1100">
                <a:solidFill>
                  <a:schemeClr val="dk1"/>
                </a:solidFill>
              </a:rPr>
              <a:t>) from the AWID-CLS-R dataset.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2. Non-Ordinal Categorical Encoding:</a:t>
            </a:r>
            <a:r>
              <a:rPr lang="en" sz="1100">
                <a:solidFill>
                  <a:schemeClr val="dk1"/>
                </a:solidFill>
              </a:rPr>
              <a:t> Implemented </a:t>
            </a:r>
            <a:r>
              <a:rPr b="1" lang="en" sz="1100">
                <a:solidFill>
                  <a:schemeClr val="dk1"/>
                </a:solidFill>
              </a:rPr>
              <a:t>One-Hot Encoding (OHE)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i="1" lang="en" sz="1100">
                <a:solidFill>
                  <a:schemeClr val="dk1"/>
                </a:solidFill>
              </a:rPr>
              <a:t>fc_type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i="1" lang="en" sz="1100">
                <a:solidFill>
                  <a:schemeClr val="dk1"/>
                </a:solidFill>
              </a:rPr>
              <a:t>fc_subtype</a:t>
            </a:r>
            <a:r>
              <a:rPr lang="en" sz="1100">
                <a:solidFill>
                  <a:schemeClr val="dk1"/>
                </a:solidFill>
              </a:rPr>
              <a:t>. This prevents the XGBoost algorithm from assuming a false mathematical hierarchy between different Wi-Fi frame types.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3</a:t>
            </a:r>
            <a:r>
              <a:rPr b="1" lang="en" sz="1100">
                <a:solidFill>
                  <a:schemeClr val="dk1"/>
                </a:solidFill>
              </a:rPr>
              <a:t>. The Class Imbalance :</a:t>
            </a:r>
            <a:r>
              <a:rPr lang="en" sz="1100">
                <a:solidFill>
                  <a:schemeClr val="dk1"/>
                </a:solidFill>
              </a:rPr>
              <a:t> Quantitative analysis reveals a severe </a:t>
            </a:r>
            <a:r>
              <a:rPr b="1" lang="en" sz="1100">
                <a:solidFill>
                  <a:schemeClr val="dk1"/>
                </a:solidFill>
              </a:rPr>
              <a:t>91.0% skew</a:t>
            </a:r>
            <a:r>
              <a:rPr lang="en" sz="1100">
                <a:solidFill>
                  <a:schemeClr val="dk1"/>
                </a:solidFill>
              </a:rPr>
              <a:t> toward "Normal" traffic. This creates a "Majority Bias" where a model could achieve high global accuracy while failing to detect 100% of actual network intrusions.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68125"/>
            <a:ext cx="4560899" cy="334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4658100" y="3914375"/>
            <a:ext cx="42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233275" y="622050"/>
            <a:ext cx="35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Initial Distribution Analysis</a:t>
            </a:r>
            <a:endParaRPr sz="1500"/>
          </a:p>
        </p:txBody>
      </p:sp>
      <p:sp>
        <p:nvSpPr>
          <p:cNvPr id="133" name="Google Shape;133;p21"/>
          <p:cNvSpPr txBox="1"/>
          <p:nvPr/>
        </p:nvSpPr>
        <p:spPr>
          <a:xfrm rot="-5400000">
            <a:off x="3644575" y="2568275"/>
            <a:ext cx="202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Number of Samples (Packet Count)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6144000" y="438452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Attack Vector (Class Type)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30475" y="1056425"/>
            <a:ext cx="4427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4</a:t>
            </a:r>
            <a:r>
              <a:rPr b="1" lang="en" sz="1100">
                <a:solidFill>
                  <a:schemeClr val="dk1"/>
                </a:solidFill>
              </a:rPr>
              <a:t>. Z-Score Feature Standardization:</a:t>
            </a:r>
            <a:r>
              <a:rPr lang="en" sz="1100">
                <a:solidFill>
                  <a:schemeClr val="dk1"/>
                </a:solidFill>
              </a:rPr>
              <a:t> Applied </a:t>
            </a:r>
            <a:r>
              <a:rPr b="1" lang="en" sz="1100">
                <a:solidFill>
                  <a:schemeClr val="dk1"/>
                </a:solidFill>
              </a:rPr>
              <a:t>StandardScaler</a:t>
            </a:r>
            <a:r>
              <a:rPr lang="en" sz="1100">
                <a:solidFill>
                  <a:schemeClr val="dk1"/>
                </a:solidFill>
              </a:rPr>
              <a:t> to normalize feature scales, ensuring the gradient-based optimizer remains stable and converges faster by </a:t>
            </a:r>
            <a:r>
              <a:rPr b="1" lang="en" sz="1100">
                <a:solidFill>
                  <a:schemeClr val="dk1"/>
                </a:solidFill>
              </a:rPr>
              <a:t>centering data</a:t>
            </a:r>
            <a:r>
              <a:rPr lang="en" sz="1100">
                <a:solidFill>
                  <a:schemeClr val="dk1"/>
                </a:solidFill>
              </a:rPr>
              <a:t> around a zero mean with unit variance: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713" y="2201950"/>
            <a:ext cx="10763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351275" y="273125"/>
            <a:ext cx="609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Initial Distribution Analysis</a:t>
            </a:r>
            <a:endParaRPr sz="1600"/>
          </a:p>
        </p:txBody>
      </p:sp>
      <p:sp>
        <p:nvSpPr>
          <p:cNvPr id="142" name="Google Shape;142;p22"/>
          <p:cNvSpPr txBox="1"/>
          <p:nvPr/>
        </p:nvSpPr>
        <p:spPr>
          <a:xfrm>
            <a:off x="247551" y="2909500"/>
            <a:ext cx="40905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x</a:t>
            </a:r>
            <a:r>
              <a:rPr b="1" lang="en" sz="1100">
                <a:solidFill>
                  <a:schemeClr val="dk1"/>
                </a:solidFill>
              </a:rPr>
              <a:t>(Observed Value):</a:t>
            </a:r>
            <a:r>
              <a:rPr lang="en" sz="1100">
                <a:solidFill>
                  <a:schemeClr val="dk1"/>
                </a:solidFill>
              </a:rPr>
              <a:t> The raw feature value of the specific network packet currently being analyzed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μ (Baseline Mean):</a:t>
            </a:r>
            <a:r>
              <a:rPr lang="en" sz="1100">
                <a:solidFill>
                  <a:schemeClr val="dk1"/>
                </a:solidFill>
              </a:rPr>
              <a:t> The calculated mathematical average of that specific feature across the entire training dataset.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σ(Feature Volatility):</a:t>
            </a:r>
            <a:r>
              <a:rPr lang="en" sz="1100">
                <a:solidFill>
                  <a:schemeClr val="dk1"/>
                </a:solidFill>
              </a:rPr>
              <a:t> The Standard Deviation, representing the typical "spread" or dispersion of values around the average.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4692800" y="1022250"/>
            <a:ext cx="4286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x=</a:t>
            </a:r>
            <a:r>
              <a:rPr lang="en" sz="1100">
                <a:solidFill>
                  <a:schemeClr val="dk1"/>
                </a:solidFill>
              </a:rPr>
              <a:t>1500 bytes.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μ=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600 bytes.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σ</a:t>
            </a:r>
            <a:r>
              <a:rPr b="1" lang="en" sz="1100">
                <a:solidFill>
                  <a:schemeClr val="dk1"/>
                </a:solidFill>
              </a:rPr>
              <a:t> =</a:t>
            </a:r>
            <a:r>
              <a:rPr lang="en" sz="1100">
                <a:solidFill>
                  <a:schemeClr val="dk1"/>
                </a:solidFill>
              </a:rPr>
              <a:t>300 bytes.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Substituting the value</a:t>
            </a:r>
            <a:r>
              <a:rPr lang="en" sz="1100">
                <a:solidFill>
                  <a:schemeClr val="dk1"/>
                </a:solidFill>
              </a:rPr>
              <a:t> : </a:t>
            </a:r>
            <a:r>
              <a:rPr b="1" lang="en" sz="1100">
                <a:solidFill>
                  <a:schemeClr val="dk1"/>
                </a:solidFill>
              </a:rPr>
              <a:t>z = </a:t>
            </a:r>
            <a:r>
              <a:rPr lang="en" sz="1100">
                <a:solidFill>
                  <a:schemeClr val="dk1"/>
                </a:solidFill>
              </a:rPr>
              <a:t>3.0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638" y="2409425"/>
            <a:ext cx="3433486" cy="21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932850"/>
            <a:ext cx="3966600" cy="299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The Problem:</a:t>
            </a:r>
            <a:r>
              <a:rPr lang="en" sz="1100">
                <a:solidFill>
                  <a:srgbClr val="1F1F1F"/>
                </a:solidFill>
              </a:rPr>
              <a:t> Majority class (Normal traffic) creates a "Self-Accuracy Trap" where the model ignores rare attack vectors.</a:t>
            </a:r>
            <a:endParaRPr sz="11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The Solution:</a:t>
            </a:r>
            <a:r>
              <a:rPr lang="en" sz="1100">
                <a:solidFill>
                  <a:srgbClr val="1F1F1F"/>
                </a:solidFill>
              </a:rPr>
              <a:t> SMOTE with k=1 (Nearest selection)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Create synthetic sample: </a:t>
            </a:r>
            <a:r>
              <a:rPr b="1" i="1" lang="en" sz="1100">
                <a:solidFill>
                  <a:schemeClr val="dk1"/>
                </a:solidFill>
                <a:highlight>
                  <a:schemeClr val="lt1"/>
                </a:highlight>
              </a:rPr>
              <a:t>x_new = x_i + λ × (x_j - x_i)</a:t>
            </a:r>
            <a:endParaRPr b="1" i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x_i  </a:t>
            </a:r>
            <a:r>
              <a:rPr lang="en" sz="1100">
                <a:solidFill>
                  <a:schemeClr val="dk1"/>
                </a:solidFill>
              </a:rPr>
              <a:t>:  The original packet.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x_zi </a:t>
            </a:r>
            <a:r>
              <a:rPr lang="en" sz="1100">
                <a:solidFill>
                  <a:schemeClr val="dk1"/>
                </a:solidFill>
              </a:rPr>
              <a:t>: A neighbor packet of the same type found nearby in the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</a:rPr>
              <a:t>(x_j - x_i) </a:t>
            </a:r>
            <a:r>
              <a:rPr lang="en" sz="1100">
                <a:solidFill>
                  <a:schemeClr val="dk1"/>
                </a:solidFill>
              </a:rPr>
              <a:t>: The distance between them.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</a:rPr>
              <a:t>λ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The "Random Step." It determines exactly where on the line between the two real packets the new "fake" packet will be born.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1F1F"/>
                </a:solidFill>
              </a:rPr>
              <a:t>Original minority samples:    ●             ●            ●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1F1F"/>
                </a:solidFill>
              </a:rPr>
              <a:t>                             	          │             │            │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1F1F"/>
                </a:solidFill>
              </a:rPr>
              <a:t>Synthetic samples:               ○─○─○    ○─○─○   ○─○─○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Synthetic Minority Over-sampling Technique (SMOTE)</a:t>
            </a:r>
            <a:endParaRPr sz="16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32838"/>
            <a:ext cx="4560900" cy="33675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>
            <a:off x="301775" y="4121225"/>
            <a:ext cx="3904200" cy="782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6144000" y="438452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Attack Vector (Class Type)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54" name="Google Shape;154;p23"/>
          <p:cNvSpPr txBox="1"/>
          <p:nvPr/>
        </p:nvSpPr>
        <p:spPr>
          <a:xfrm rot="-5400000">
            <a:off x="3216600" y="2040025"/>
            <a:ext cx="27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Number of Samples (Packet Count)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69750" y="27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Model Suitability</a:t>
            </a:r>
            <a:endParaRPr/>
          </a:p>
        </p:txBody>
      </p:sp>
      <p:graphicFrame>
        <p:nvGraphicFramePr>
          <p:cNvPr id="160" name="Google Shape;160;p24"/>
          <p:cNvGraphicFramePr/>
          <p:nvPr/>
        </p:nvGraphicFramePr>
        <p:xfrm>
          <a:off x="521663" y="5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{834BCF95-DD65-465C-B9AE-2417C28DE32D}</a:tableStyleId>
              </a:tblPr>
              <a:tblGrid>
                <a:gridCol w="1315850"/>
                <a:gridCol w="1837275"/>
                <a:gridCol w="1828625"/>
                <a:gridCol w="1555175"/>
                <a:gridCol w="1563750"/>
              </a:tblGrid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Feature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XGBoost (Ensemble Trees)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DNN (Deep Neural)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CNN (Convolutional)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RNN / LSTM (Recurrent)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Data Topology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Structured Tabular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Continuous Manifolds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Spatial/Grid Patterns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Temporal Sequences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Mathematical Logic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Recursive Partitioning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Stochastic Gradient Descent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Feature Map Extraction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Hidden State Memory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Interpretability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High (Feature Gain/Weight)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 (Black Box)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 (Latent Space)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 (Temporal Weights)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Sparsity Handling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Native Sparsity-Aware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Poor (Requires Dense Inputs)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Poor (Requires Padding)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Poor (Vanishing Gradients)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Training Speed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Ultra-Fast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Slow (Backpropagation)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Very Slow (Convolutions)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Very Slow (Sequential)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Inference Latency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Microseconds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Milliseconds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Milliseconds - Seconds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Milliseconds - Seconds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Results &amp; Model Performance Analysis</a:t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349425" y="838550"/>
            <a:ext cx="4320000" cy="28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</a:rPr>
              <a:t>1. Global Classification Metrics</a:t>
            </a:r>
            <a:endParaRPr b="1" sz="13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 sz="1100">
                <a:solidFill>
                  <a:srgbClr val="1F1F1F"/>
                </a:solidFill>
              </a:rPr>
              <a:t>Overall System Accuracy:</a:t>
            </a:r>
            <a:r>
              <a:rPr lang="en" sz="1100">
                <a:solidFill>
                  <a:srgbClr val="1F1F1F"/>
                </a:solidFill>
              </a:rPr>
              <a:t> </a:t>
            </a:r>
            <a:r>
              <a:rPr b="1" lang="en" sz="1100">
                <a:solidFill>
                  <a:srgbClr val="1F1F1F"/>
                </a:solidFill>
              </a:rPr>
              <a:t>98.4%</a:t>
            </a:r>
            <a:r>
              <a:rPr lang="en" sz="1100">
                <a:solidFill>
                  <a:srgbClr val="1F1F1F"/>
                </a:solidFill>
              </a:rPr>
              <a:t> – High-fidelity classification across the entire test set.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 sz="1100">
                <a:solidFill>
                  <a:srgbClr val="1F1F1F"/>
                </a:solidFill>
              </a:rPr>
              <a:t>Macro F1-Score:</a:t>
            </a:r>
            <a:r>
              <a:rPr lang="en" sz="1100">
                <a:solidFill>
                  <a:srgbClr val="1F1F1F"/>
                </a:solidFill>
              </a:rPr>
              <a:t> </a:t>
            </a:r>
            <a:r>
              <a:rPr b="1" lang="en" sz="1100">
                <a:solidFill>
                  <a:srgbClr val="1F1F1F"/>
                </a:solidFill>
              </a:rPr>
              <a:t>0.984</a:t>
            </a:r>
            <a:r>
              <a:rPr lang="en" sz="1100">
                <a:solidFill>
                  <a:srgbClr val="1F1F1F"/>
                </a:solidFill>
              </a:rPr>
              <a:t> – This is the most critical metric; it proves the model performs equally well on rare attacks and normal traffic, validating the </a:t>
            </a:r>
            <a:r>
              <a:rPr b="1" lang="en" sz="1100">
                <a:solidFill>
                  <a:srgbClr val="1F1F1F"/>
                </a:solidFill>
              </a:rPr>
              <a:t>SMOTE balancing strategy</a:t>
            </a:r>
            <a:r>
              <a:rPr lang="en" sz="1100">
                <a:solidFill>
                  <a:srgbClr val="1F1F1F"/>
                </a:solidFill>
              </a:rPr>
              <a:t>.</a:t>
            </a:r>
            <a:endParaRPr sz="11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800"/>
              </a:spcAft>
              <a:buNone/>
            </a:pPr>
            <a:r>
              <a:t/>
            </a:r>
            <a:endParaRPr i="1" sz="1100">
              <a:solidFill>
                <a:srgbClr val="1F1F1F"/>
              </a:solidFill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575" y="1165713"/>
            <a:ext cx="4573375" cy="21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Results &amp; Model Performance Analysis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349425" y="671075"/>
            <a:ext cx="43200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Feature Independence &amp; Optimization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Objective Validation</a:t>
            </a:r>
            <a:r>
              <a:rPr lang="en" sz="1100">
                <a:solidFill>
                  <a:schemeClr val="dk1"/>
                </a:solidFill>
              </a:rPr>
              <a:t>: This heatmap provides mathematical evidence for the reduction of 154 raw features down to 13 pivotal behavioral indicators.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Redundancy Elimination</a:t>
            </a:r>
            <a:r>
              <a:rPr lang="en" sz="1100">
                <a:solidFill>
                  <a:schemeClr val="dk1"/>
                </a:solidFill>
              </a:rPr>
              <a:t>: The predominantly light-colored (low correlation) areas prove that the selected features provide unique, non-overlapping information.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Structural Grouping</a:t>
            </a:r>
            <a:r>
              <a:rPr lang="en" sz="1100">
                <a:solidFill>
                  <a:schemeClr val="dk1"/>
                </a:solidFill>
              </a:rPr>
              <a:t>: The dark red clusters (correlation = 1.0) correctly identify logical groupings, such as the </a:t>
            </a:r>
            <a:r>
              <a:rPr b="1" lang="en" sz="1100">
                <a:solidFill>
                  <a:schemeClr val="dk1"/>
                </a:solidFill>
              </a:rPr>
              <a:t>RadioTap Header</a:t>
            </a:r>
            <a:r>
              <a:rPr lang="en" sz="1100">
                <a:solidFill>
                  <a:schemeClr val="dk1"/>
                </a:solidFill>
              </a:rPr>
              <a:t> attributes (</a:t>
            </a:r>
            <a:r>
              <a:rPr i="1" lang="en" sz="1100">
                <a:solidFill>
                  <a:schemeClr val="dk1"/>
                </a:solidFill>
              </a:rPr>
              <a:t>rt_len, rt_tsft, rt_flag</a:t>
            </a:r>
            <a:r>
              <a:rPr lang="en" sz="1100">
                <a:solidFill>
                  <a:srgbClr val="188038"/>
                </a:solidFill>
              </a:rPr>
              <a:t>s</a:t>
            </a:r>
            <a:r>
              <a:rPr lang="en" sz="1100">
                <a:solidFill>
                  <a:schemeClr val="dk1"/>
                </a:solidFill>
              </a:rPr>
              <a:t>), validating data integrity.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300">
              <a:solidFill>
                <a:srgbClr val="1F1F1F"/>
              </a:solidFill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350" y="984400"/>
            <a:ext cx="4169774" cy="355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Results &amp; Model Performance Analysis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222250" y="1066250"/>
            <a:ext cx="4191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F1F"/>
                </a:solidFill>
              </a:rPr>
              <a:t>3</a:t>
            </a:r>
            <a:r>
              <a:rPr b="1" lang="en" sz="1300">
                <a:solidFill>
                  <a:srgbClr val="1F1F1F"/>
                </a:solidFill>
              </a:rPr>
              <a:t>. Detection Sensitivity (Recall) by Attack Vector</a:t>
            </a:r>
            <a:endParaRPr b="1" sz="13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</a:rPr>
              <a:t>The model demonstrated near-perfect "Sensitivity" for adversarial behaviors: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 sz="1100">
                <a:solidFill>
                  <a:srgbClr val="1F1F1F"/>
                </a:solidFill>
              </a:rPr>
              <a:t>Injection Attacks:</a:t>
            </a:r>
            <a:r>
              <a:rPr lang="en" sz="1100">
                <a:solidFill>
                  <a:srgbClr val="1F1F1F"/>
                </a:solidFill>
              </a:rPr>
              <a:t> </a:t>
            </a:r>
            <a:r>
              <a:rPr b="1" lang="en" sz="1100">
                <a:solidFill>
                  <a:srgbClr val="1F1F1F"/>
                </a:solidFill>
              </a:rPr>
              <a:t>100.00% Recall</a:t>
            </a:r>
            <a:r>
              <a:rPr lang="en" sz="1100">
                <a:solidFill>
                  <a:srgbClr val="1F1F1F"/>
                </a:solidFill>
              </a:rPr>
              <a:t> – Zero missed samples for the most critical intrusion type.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 sz="1100">
                <a:solidFill>
                  <a:srgbClr val="1F1F1F"/>
                </a:solidFill>
              </a:rPr>
              <a:t>Flooding Attacks:</a:t>
            </a:r>
            <a:r>
              <a:rPr lang="en" sz="1100">
                <a:solidFill>
                  <a:srgbClr val="1F1F1F"/>
                </a:solidFill>
              </a:rPr>
              <a:t> </a:t>
            </a:r>
            <a:r>
              <a:rPr b="1" lang="en" sz="1100">
                <a:solidFill>
                  <a:srgbClr val="1F1F1F"/>
                </a:solidFill>
              </a:rPr>
              <a:t>99.96% Recall</a:t>
            </a:r>
            <a:r>
              <a:rPr lang="en" sz="1100">
                <a:solidFill>
                  <a:srgbClr val="1F1F1F"/>
                </a:solidFill>
              </a:rPr>
              <a:t> – Near-perfect identification of volumetric threats.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800"/>
              </a:spcAft>
              <a:buClr>
                <a:srgbClr val="1F1F1F"/>
              </a:buClr>
              <a:buSzPts val="1100"/>
              <a:buChar char="●"/>
            </a:pPr>
            <a:r>
              <a:rPr b="1" lang="en" sz="1100">
                <a:solidFill>
                  <a:srgbClr val="1F1F1F"/>
                </a:solidFill>
              </a:rPr>
              <a:t>Impersonation Attacks:</a:t>
            </a:r>
            <a:r>
              <a:rPr lang="en" sz="1100">
                <a:solidFill>
                  <a:srgbClr val="1F1F1F"/>
                </a:solidFill>
              </a:rPr>
              <a:t> </a:t>
            </a:r>
            <a:r>
              <a:rPr b="1" lang="en" sz="1100">
                <a:solidFill>
                  <a:srgbClr val="1F1F1F"/>
                </a:solidFill>
              </a:rPr>
              <a:t>99.79% Recall</a:t>
            </a:r>
            <a:r>
              <a:rPr lang="en" sz="1100">
                <a:solidFill>
                  <a:srgbClr val="1F1F1F"/>
                </a:solidFill>
              </a:rPr>
              <a:t> – Robust detection of MAC-spoofing and identity theft.</a:t>
            </a:r>
            <a:endParaRPr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225" y="990950"/>
            <a:ext cx="4378806" cy="400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/>
        </p:nvSpPr>
        <p:spPr>
          <a:xfrm>
            <a:off x="5913675" y="4835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Attack Vector (Class Type)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</a:rPr>
              <a:t>Results &amp; Model Performance Analysis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349425" y="793300"/>
            <a:ext cx="4014300" cy="4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Class-Specific Performance Analysis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Flooding Attacks:</a:t>
            </a:r>
            <a:r>
              <a:rPr lang="en" sz="1100">
                <a:solidFill>
                  <a:schemeClr val="dk1"/>
                </a:solidFill>
              </a:rPr>
              <a:t> Achieved </a:t>
            </a:r>
            <a:r>
              <a:rPr b="1" lang="en" sz="1100">
                <a:solidFill>
                  <a:schemeClr val="dk1"/>
                </a:solidFill>
              </a:rPr>
              <a:t>100% Recall</a:t>
            </a:r>
            <a:r>
              <a:rPr lang="en" sz="1100">
                <a:solidFill>
                  <a:schemeClr val="dk1"/>
                </a:solidFill>
              </a:rPr>
              <a:t> with a </a:t>
            </a:r>
            <a:r>
              <a:rPr b="1" lang="en" sz="1100">
                <a:solidFill>
                  <a:schemeClr val="dk1"/>
                </a:solidFill>
              </a:rPr>
              <a:t>0.93 Precision</a:t>
            </a:r>
            <a:r>
              <a:rPr lang="en" sz="1100">
                <a:solidFill>
                  <a:schemeClr val="dk1"/>
                </a:solidFill>
              </a:rPr>
              <a:t>, ensuring every volumetric threat was captured.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Impersonation Attacks:</a:t>
            </a:r>
            <a:r>
              <a:rPr lang="en" sz="1100">
                <a:solidFill>
                  <a:schemeClr val="dk1"/>
                </a:solidFill>
              </a:rPr>
              <a:t> Demonstrated near-perfect results with </a:t>
            </a:r>
            <a:r>
              <a:rPr b="1" lang="en" sz="1100">
                <a:solidFill>
                  <a:schemeClr val="dk1"/>
                </a:solidFill>
              </a:rPr>
              <a:t>100% Recall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0.98 Precision</a:t>
            </a:r>
            <a:r>
              <a:rPr lang="en" sz="1100">
                <a:solidFill>
                  <a:schemeClr val="dk1"/>
                </a:solidFill>
              </a:rPr>
              <a:t>, effectively neutralizing MAC-spoofing attempts.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Injection Attacks:</a:t>
            </a:r>
            <a:r>
              <a:rPr lang="en" sz="1100">
                <a:solidFill>
                  <a:schemeClr val="dk1"/>
                </a:solidFill>
              </a:rPr>
              <a:t> Maintained </a:t>
            </a:r>
            <a:r>
              <a:rPr b="1" lang="en" sz="1100">
                <a:solidFill>
                  <a:schemeClr val="dk1"/>
                </a:solidFill>
              </a:rPr>
              <a:t>100% Recall</a:t>
            </a:r>
            <a:r>
              <a:rPr lang="en" sz="1100">
                <a:solidFill>
                  <a:schemeClr val="dk1"/>
                </a:solidFill>
              </a:rPr>
              <a:t>, though Precision was lower (</a:t>
            </a:r>
            <a:r>
              <a:rPr b="1" lang="en" sz="1100">
                <a:solidFill>
                  <a:schemeClr val="dk1"/>
                </a:solidFill>
              </a:rPr>
              <a:t>0.66</a:t>
            </a:r>
            <a:r>
              <a:rPr lang="en" sz="1100">
                <a:solidFill>
                  <a:schemeClr val="dk1"/>
                </a:solidFill>
              </a:rPr>
              <a:t>) due to packets with edge-case lengths that occasionally mimic benign behavior.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Normal Traffic:</a:t>
            </a:r>
            <a:r>
              <a:rPr lang="en" sz="1100">
                <a:solidFill>
                  <a:schemeClr val="dk1"/>
                </a:solidFill>
              </a:rPr>
              <a:t> Identified with </a:t>
            </a:r>
            <a:r>
              <a:rPr b="1" lang="en" sz="1100">
                <a:solidFill>
                  <a:schemeClr val="dk1"/>
                </a:solidFill>
              </a:rPr>
              <a:t>1.00 Precision</a:t>
            </a:r>
            <a:r>
              <a:rPr lang="en" sz="1100">
                <a:solidFill>
                  <a:schemeClr val="dk1"/>
                </a:solidFill>
              </a:rPr>
              <a:t>, ensuring that legitimate network operations are rarely interrupted by false alarms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1594" r="0" t="0"/>
          <a:stretch/>
        </p:blipFill>
        <p:spPr>
          <a:xfrm>
            <a:off x="4363775" y="793300"/>
            <a:ext cx="4140699" cy="40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49425" y="26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</a:rPr>
              <a:t>Inference </a:t>
            </a:r>
            <a:endParaRPr sz="1900"/>
          </a:p>
        </p:txBody>
      </p:sp>
      <p:sp>
        <p:nvSpPr>
          <p:cNvPr id="195" name="Google Shape;195;p29"/>
          <p:cNvSpPr txBox="1"/>
          <p:nvPr/>
        </p:nvSpPr>
        <p:spPr>
          <a:xfrm>
            <a:off x="273900" y="642650"/>
            <a:ext cx="8870100" cy="1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CNN Strengths :</a:t>
            </a:r>
            <a:r>
              <a:rPr lang="en" sz="1100">
                <a:solidFill>
                  <a:schemeClr val="dk1"/>
                </a:solidFill>
              </a:rPr>
              <a:t> The study chose CNNs for their deep feature extraction and ability to manage the dynamic, high-dimensional nature of WSN traffic. The CNN model achieved a </a:t>
            </a:r>
            <a:r>
              <a:rPr b="1" lang="en" sz="1100">
                <a:solidFill>
                  <a:schemeClr val="dk1"/>
                </a:solidFill>
              </a:rPr>
              <a:t>97% accuracy rate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XGBoost Strengths:</a:t>
            </a:r>
            <a:r>
              <a:rPr lang="en" sz="1100">
                <a:solidFill>
                  <a:schemeClr val="dk1"/>
                </a:solidFill>
              </a:rPr>
              <a:t> The XGBoost implementation achieved a slightly higher </a:t>
            </a:r>
            <a:r>
              <a:rPr b="1" lang="en" sz="1100">
                <a:solidFill>
                  <a:schemeClr val="dk1"/>
                </a:solidFill>
              </a:rPr>
              <a:t>accuracy of 97.9%</a:t>
            </a:r>
            <a:r>
              <a:rPr lang="en" sz="1100">
                <a:solidFill>
                  <a:schemeClr val="dk1"/>
                </a:solidFill>
              </a:rPr>
              <a:t>. As we discussed, tree-based models often outperform neural networks on structured tabular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Balancing Factor:</a:t>
            </a:r>
            <a:r>
              <a:rPr lang="en" sz="1100">
                <a:solidFill>
                  <a:schemeClr val="dk1"/>
                </a:solidFill>
              </a:rPr>
              <a:t> The use of </a:t>
            </a:r>
            <a:r>
              <a:rPr b="1" lang="en" sz="1100">
                <a:solidFill>
                  <a:schemeClr val="dk1"/>
                </a:solidFill>
              </a:rPr>
              <a:t>SMOTE</a:t>
            </a:r>
            <a:r>
              <a:rPr lang="en" sz="1100">
                <a:solidFill>
                  <a:schemeClr val="dk1"/>
                </a:solidFill>
              </a:rPr>
              <a:t> in this project addressed the </a:t>
            </a:r>
            <a:r>
              <a:rPr b="1" lang="en" sz="1100">
                <a:solidFill>
                  <a:schemeClr val="dk1"/>
                </a:solidFill>
              </a:rPr>
              <a:t>91.0% class imbalance</a:t>
            </a:r>
            <a:r>
              <a:rPr lang="en" sz="1100">
                <a:solidFill>
                  <a:schemeClr val="dk1"/>
                </a:solidFill>
              </a:rPr>
              <a:t> found in the AWID dataset. The research paper acknowledges that outliers and data distribution are critical challenges in WSN security.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96" name="Google Shape;196;p29"/>
          <p:cNvGraphicFramePr/>
          <p:nvPr/>
        </p:nvGraphicFramePr>
        <p:xfrm>
          <a:off x="2014525" y="27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{834BCF95-DD65-465C-B9AE-2417C28DE32D}</a:tableStyleId>
              </a:tblPr>
              <a:tblGrid>
                <a:gridCol w="1104900"/>
                <a:gridCol w="1752600"/>
                <a:gridCol w="2257425"/>
              </a:tblGrid>
              <a:tr h="247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Metric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XGBoost + SMOTE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Paper (Sadia et al., 2024 - CNN)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Overall Accuracy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97.9%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97.0%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Attack Recall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100.0%</a:t>
                      </a:r>
                      <a:r>
                        <a:rPr lang="en" sz="1000"/>
                        <a:t> (for all attacks)</a:t>
                      </a:r>
                      <a:endParaRPr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99.6% </a:t>
                      </a:r>
                      <a:r>
                        <a:rPr lang="en" sz="1000"/>
                        <a:t>(Majority Voting Logistic Regression)</a:t>
                      </a:r>
                      <a:endParaRPr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Macro F1-Score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0.934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0.52 to</a:t>
                      </a:r>
                      <a:r>
                        <a:rPr b="1" lang="en" sz="1000"/>
                        <a:t> 0.93</a:t>
                      </a:r>
                      <a:r>
                        <a:rPr lang="en" sz="1000"/>
                        <a:t> (depending on feature set)</a:t>
                      </a:r>
                      <a:endParaRPr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Detection Rate</a:t>
                      </a:r>
                      <a:endParaRPr b="1"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Extremely High (0.99)</a:t>
                      </a:r>
                      <a:endParaRPr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 with minimal False Alarms (0.97)</a:t>
                      </a:r>
                      <a:endParaRPr sz="1000"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Paper (Sadia et al., 2024 - CNN)</a:t>
            </a:r>
            <a:r>
              <a:rPr lang="en"/>
              <a:t>-D</a:t>
            </a:r>
            <a:r>
              <a:rPr lang="en"/>
              <a:t>eep Learning Results </a:t>
            </a:r>
            <a:endParaRPr/>
          </a:p>
        </p:txBody>
      </p:sp>
      <p:graphicFrame>
        <p:nvGraphicFramePr>
          <p:cNvPr id="202" name="Google Shape;202;p30"/>
          <p:cNvGraphicFramePr/>
          <p:nvPr/>
        </p:nvGraphicFramePr>
        <p:xfrm>
          <a:off x="1162300" y="138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{834BCF95-DD65-465C-B9AE-2417C28DE32D}</a:tableStyleId>
              </a:tblPr>
              <a:tblGrid>
                <a:gridCol w="1930125"/>
                <a:gridCol w="1511200"/>
                <a:gridCol w="1256850"/>
                <a:gridCol w="930975"/>
                <a:gridCol w="939325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Algorithm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Feature Set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Task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Accuracy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Loss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DNN (5 Layers)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13 Feats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Multiclass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0.92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0.73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DNN (3 Layers)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76 Feats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Binary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0.97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0.47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RNN-LSTM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13 Feats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Multiclass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0.92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0.62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RNN-LSTM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76 Feats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Binary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0.93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0.88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CNN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13 Feats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Binary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0.97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0.14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